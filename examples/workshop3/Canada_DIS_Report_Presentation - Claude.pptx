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cover clean — one strong title, one line of attribution to the committee. The committee was chaired by Ben Carr, with Raquel Dancho and Gabriel Ste-Marie as vice-chairs. Frame the talk as a policy/economic reading of the report — not advocacy.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a public-policy audience will lean in. Worth pausing on the fiscal point: the PBO is preparing a separate report on the impact of reaching 3.5% + 1.5% by 2035. The 'ancillary' 1.5% — dual-use infrastructure, critical minerals — is where defence spending overlaps with broader economic and industrial policy.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Briefly orient the audience to the source so they trust what follows. The dual framing in the motion — self-reliance AND procurement opportunities — is itself an industrial-policy signal. There is also a substantial Conservative supplementary opinion that adds further recommendations; we cover that on Slide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'regionally distributed' framing matters politically — this isn't a single regional interest. Nuance for Q&amp;A: PBO noted that of $18.3B in ITB-eligible contracts (2015-2019), nearly half wasn't directly tied to military equipment production, and only about a third flowed to Canadian-owned firms — useful if challenged on ITB effectiveness.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Lagassé's caution is worth speaker-note treatment: reorienting away from U.S.-aligned systems carries real interoperability risk with the U.K. and Australia (shared cloud infrastructure, etc.). The IP-leakage point connects to broader Canadian innovation-policy concerns about scaling firms domestically rather than selling them prematurely.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to land hardest — almost every other challenge in the report ultimately routes back through procurement. Lagassé's specific point: IDEaS has no contracting mechanism attached, so even successful pilots can't be acquired. Lombardi/Intson 'attritable mass' framing is worth surfacing — the procurement model for a drone swarm is fundamentally different from a frigate or fighter.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connects defence-industrial policy to recognizable Canadian themes — the productivity gap, the scale-up challenge, the BDC/EDC role debate. Be even-handed: the PBO reminded the committee that defence spending sits inside a constrained fiscal envelope. The DSRB number is striking but it's a proposal, not a policy.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Greenley (MDA Space) made a notable case that diversity and inclusion can be embedded as standard business practice with tracking and measurable improvement — useful counter to the framing that equity considerations are extraneous to defence procurement.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some of the most distinctive and possibly freshest material in the report for a policy audience. The Conservative supplementary goes further on northern infrastructure (slide 13) — flag that as a preview.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principles function as the 'evaluation criteria' an audience can carry forward when the government's actual DIS is assessed over time. Lagassé's honest framing is worth naming in delivery: a viable domestic industry will likely require increased exports, including to markets where human-rights and democratic practices may not fully align with Canada's preferences.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 to flag for the audience: this is the committee's package — not the government's DIS. The government released its own DIS just as the committee finalized its report; how closely the two align is a live empirical question we cover on slide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committee wanted to hear from Doug Guzman directly but didn't get to before the report was finalized. Flag this as a live, unresolved policy question the audience can track. The split among witnesses is itself the story: even people who want the DIA to succeed disagree on whether the current structure can deliver.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Worth quoting from the supplementary in delivery: 'defence-industrial policy is not a narrow procurement exercise, but a practical means by which Canada converts its resources, talent, geography, and technology into sovereign capability.' Treat the supplementary evenhandedly — these are real choices, not partisan noise.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broader argument: defence industrial strategy is a test case for whether Canada can do industrial policy at all. This connects defence-specific policy to the broader productivity, sovereignty, and competitiveness debates the audience cares about. Close briefly, then open to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B3B3B"/>
          </a:solidFill>
          <a:ln w="12700">
            <a:solidFill>
              <a:srgbClr val="9B3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777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COMMONS · STANDING COMMITTEE ON INDUSTRY AND TECHNOLOGY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1155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Innovation to Readiness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256032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D8D2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Canada's Defence Industrial Strategy and What It Means for Public Policy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4206240"/>
            <a:ext cx="914400" cy="36576"/>
          </a:xfrm>
          <a:prstGeom prst="rect">
            <a:avLst/>
          </a:prstGeom>
          <a:solidFill>
            <a:srgbClr val="B8862C"/>
          </a:solidFill>
          <a:ln w="12700">
            <a:solidFill>
              <a:srgbClr val="B886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4348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reading of the Second Report of the House of Commons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7365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Committee on Industry and Technology — March 2026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56692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and affiliation — TBD]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59893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/ venue: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92608" cy="292608"/>
          </a:xfrm>
          <a:prstGeom prst="rect">
            <a:avLst/>
          </a:prstGeom>
          <a:solidFill>
            <a:srgbClr val="9B3B3B"/>
          </a:solidFill>
          <a:ln w="12700">
            <a:solidFill>
              <a:srgbClr val="9B3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38404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THE STAKES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Now — A Strategic and Fiscal Turning Point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640080" cy="45720"/>
          </a:xfrm>
          <a:prstGeom prst="rect">
            <a:avLst/>
          </a:prstGeom>
          <a:solidFill>
            <a:srgbClr val="9B3B3B"/>
          </a:solidFill>
          <a:ln w="12700">
            <a:solidFill>
              <a:srgbClr val="9B3B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5564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2C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forces are converging on Canada at once.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3611880" cy="2468880"/>
          </a:xfrm>
          <a:prstGeom prst="rect">
            <a:avLst/>
          </a:prstGeom>
          <a:solidFill>
            <a:srgbClr val="F5F2EC"/>
          </a:solidFill>
          <a:ln w="12700">
            <a:solidFill>
              <a:srgbClr val="F5F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468880"/>
            <a:ext cx="73152" cy="2468880"/>
          </a:xfrm>
          <a:prstGeom prst="rect">
            <a:avLst/>
          </a:prstGeom>
          <a:solidFill>
            <a:srgbClr val="9B3B3B"/>
          </a:solidFill>
          <a:ln w="12700">
            <a:solidFill>
              <a:srgbClr val="9B3B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7432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88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77240" y="33375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Geopolitics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77240" y="38862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instability, threats to supply chains, and the accelerating pace of military-technological change are reshaping defence-industrial assumptions.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97680" y="2468880"/>
            <a:ext cx="3611880" cy="2468880"/>
          </a:xfrm>
          <a:prstGeom prst="rect">
            <a:avLst/>
          </a:prstGeom>
          <a:solidFill>
            <a:srgbClr val="F5F2EC"/>
          </a:solidFill>
          <a:ln w="12700">
            <a:solidFill>
              <a:srgbClr val="F5F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2468880"/>
            <a:ext cx="73152" cy="2468880"/>
          </a:xfrm>
          <a:prstGeom prst="rect">
            <a:avLst/>
          </a:prstGeom>
          <a:solidFill>
            <a:srgbClr val="9B3B3B"/>
          </a:solidFill>
          <a:ln w="12700">
            <a:solidFill>
              <a:srgbClr val="9B3B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27432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88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617720" y="33375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NATO Commitments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17720" y="38862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has committed to 5% of GDP on defence by 2035 — 3.5% core plus 1.5% ancillary — up from the previous 2% target.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38160" y="2468880"/>
            <a:ext cx="3611880" cy="2468880"/>
          </a:xfrm>
          <a:prstGeom prst="rect">
            <a:avLst/>
          </a:prstGeom>
          <a:solidFill>
            <a:srgbClr val="F5F2EC"/>
          </a:solidFill>
          <a:ln w="12700">
            <a:solidFill>
              <a:srgbClr val="F5F2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2468880"/>
            <a:ext cx="73152" cy="2468880"/>
          </a:xfrm>
          <a:prstGeom prst="rect">
            <a:avLst/>
          </a:prstGeom>
          <a:solidFill>
            <a:srgbClr val="9B3B3B"/>
          </a:solidFill>
          <a:ln w="12700">
            <a:solidFill>
              <a:srgbClr val="9B3B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27432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88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458200" y="33375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 2025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458200" y="38862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new defence investments were announced in Budget 2025; the Government released its DIS as the committee finalized its report.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5120640"/>
            <a:ext cx="11274552" cy="118872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5120640"/>
            <a:ext cx="73152" cy="1188720"/>
          </a:xfrm>
          <a:prstGeom prst="rect">
            <a:avLst/>
          </a:prstGeom>
          <a:solidFill>
            <a:srgbClr val="B8862C"/>
          </a:solidFill>
          <a:ln w="12700">
            <a:solidFill>
              <a:srgbClr val="B886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285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555955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Parliamentary Budget Officer warned that Canada's debt-to-GDP ratio is projected to rise and that sustained increases in defence spending will require "explicit fiscal trade-offs and careful attention to limited means."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57200" y="6510528"/>
            <a:ext cx="11274552" cy="137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7200" y="65653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 Standing Committee, Second Report · March 2026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515600" y="6565392"/>
            <a:ext cx="1216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92608" cy="292608"/>
          </a:xfrm>
          <a:prstGeom prst="rect">
            <a:avLst/>
          </a:prstGeom>
          <a:solidFill>
            <a:srgbClr val="9B3B3B"/>
          </a:solidFill>
          <a:ln w="12700">
            <a:solidFill>
              <a:srgbClr val="9B3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38404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DOCUMENT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Report at a Glance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640080" cy="45720"/>
          </a:xfrm>
          <a:prstGeom prst="rect">
            <a:avLst/>
          </a:prstGeom>
          <a:solidFill>
            <a:srgbClr val="9B3B3B"/>
          </a:solidFill>
          <a:ln w="12700">
            <a:solidFill>
              <a:srgbClr val="9B3B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5564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2C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committee did, and what it produced.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2606040" cy="1554480"/>
          </a:xfrm>
          <a:prstGeom prst="rect">
            <a:avLst/>
          </a:prstGeom>
          <a:solidFill>
            <a:srgbClr val="F9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9748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9B3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548640" y="35661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2560320"/>
            <a:ext cx="2606040" cy="1554480"/>
          </a:xfrm>
          <a:prstGeom prst="rect">
            <a:avLst/>
          </a:prstGeom>
          <a:solidFill>
            <a:srgbClr val="F9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269748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9B3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3383280" y="35661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Witnesses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2560320"/>
            <a:ext cx="2606040" cy="1554480"/>
          </a:xfrm>
          <a:prstGeom prst="rect">
            <a:avLst/>
          </a:prstGeom>
          <a:solidFill>
            <a:srgbClr val="F9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269748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9B3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6217920" y="35661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961120" y="2560320"/>
            <a:ext cx="2606040" cy="1554480"/>
          </a:xfrm>
          <a:prstGeom prst="rect">
            <a:avLst/>
          </a:prstGeom>
          <a:solidFill>
            <a:srgbClr val="F9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0" y="269748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9B3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9052560" y="35661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 supplementary)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4805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Commons Standing Committee on Industry and Technology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Chaired by Ben Carr; vice-chairs Raquel Dancho and Gabriel Ste-Marie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5166360"/>
            <a:ext cx="11274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motion adopted September 22, 2025. Six meetings between October 1 and November 26, 2025. The committee's mandate explicitly framed this as a study about both </a:t>
            </a:r>
            <a:pPr indent="0" marL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"self-reliance in national defence and security"</a:t>
            </a:r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"procurement opportunities for Canadian businesses"</a:t>
            </a:r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dual framing that is itself an economic-policy signal.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57200" y="6510528"/>
            <a:ext cx="11274552" cy="137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65653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 Standing Committee, Second Report · March 2026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515600" y="6565392"/>
            <a:ext cx="1216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92608" cy="292608"/>
          </a:xfrm>
          <a:prstGeom prst="rect">
            <a:avLst/>
          </a:prstGeom>
          <a:solidFill>
            <a:srgbClr val="9B3B3B"/>
          </a:solidFill>
          <a:ln w="12700">
            <a:solidFill>
              <a:srgbClr val="9B3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38404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 TODAY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Canada's Defence Industry Today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640080" cy="45720"/>
          </a:xfrm>
          <a:prstGeom prst="rect">
            <a:avLst/>
          </a:prstGeom>
          <a:solidFill>
            <a:srgbClr val="9B3B3B"/>
          </a:solidFill>
          <a:ln w="12700">
            <a:solidFill>
              <a:srgbClr val="9B3B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5564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2C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significant, export-oriented, regionally distributed sector.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9B3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620+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834640" y="25146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9B3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$9.6B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2834640" y="32918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GDP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0690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9B3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81,200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2834640" y="40690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937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figures (ISED testimony)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2514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EXPORTS BY DESTINATION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0" y="2926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321040" y="3035808"/>
            <a:ext cx="2743200" cy="14630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0" y="3035808"/>
            <a:ext cx="2743200" cy="146304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55680" y="2926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3429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321040" y="3538728"/>
            <a:ext cx="2743200" cy="14630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21040" y="3538728"/>
            <a:ext cx="478971" cy="146304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155680" y="3429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17920" y="3931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321040" y="4041648"/>
            <a:ext cx="2743200" cy="14630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21040" y="4041648"/>
            <a:ext cx="217714" cy="146304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155680" y="3931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17920" y="4617720"/>
            <a:ext cx="5486400" cy="640080"/>
          </a:xfrm>
          <a:prstGeom prst="rect">
            <a:avLst/>
          </a:prstGeom>
          <a:solidFill>
            <a:srgbClr val="F9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46177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ITB policy contribution:  </a:t>
            </a:r>
            <a:pPr indent="0" marL="0">
              <a:buNone/>
            </a:pPr>
            <a:r>
              <a:rPr lang="en-US" sz="1800" b="1" dirty="0">
                <a:solidFill>
                  <a:srgbClr val="9B3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~$4.7B to GDP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5440680"/>
            <a:ext cx="11274552" cy="914400"/>
          </a:xfrm>
          <a:prstGeom prst="rect">
            <a:avLst/>
          </a:prstGeom>
          <a:solidFill>
            <a:srgbClr val="F5F2EC"/>
          </a:solidFill>
          <a:ln w="12700">
            <a:solidFill>
              <a:srgbClr val="F5F2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5440680"/>
            <a:ext cx="73152" cy="914400"/>
          </a:xfrm>
          <a:prstGeom prst="rect">
            <a:avLst/>
          </a:prstGeom>
          <a:solidFill>
            <a:srgbClr val="B8862C"/>
          </a:solidFill>
          <a:ln w="12700">
            <a:solidFill>
              <a:srgbClr val="B8862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5321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OF REGIONAL CLUSTERS — NOT A SINGLE INDUSTRY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7240" y="5806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Aerospace (QC, ON, MB, BC — Quebec alone: ~250 firms, 43,000 workers, $23B in annual sales) · Shipbuilding under the National Shipbuilding Strategy · Quantum · Autonomous systems · AI · Critical minerals. CADSI: with a coherent DIS, the industrial base could plausibly double in a decade.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457200" y="6510528"/>
            <a:ext cx="11274552" cy="137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57200" y="65653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 Standing Committee, Second Report · March 2026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0515600" y="6565392"/>
            <a:ext cx="1216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92608" cy="292608"/>
          </a:xfrm>
          <a:prstGeom prst="rect">
            <a:avLst/>
          </a:prstGeom>
          <a:solidFill>
            <a:srgbClr val="9B3B3B"/>
          </a:solidFill>
          <a:ln w="12700">
            <a:solidFill>
              <a:srgbClr val="9B3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38404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POSITIONING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Canada's Place in Allied Supply Chains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640080" cy="45720"/>
          </a:xfrm>
          <a:prstGeom prst="rect">
            <a:avLst/>
          </a:prstGeom>
          <a:solidFill>
            <a:srgbClr val="9B3B3B"/>
          </a:solidFill>
          <a:ln w="12700">
            <a:solidFill>
              <a:srgbClr val="9B3B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5564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2C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second-tier defence power — integrated rather than autonomous.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is a </a:t>
            </a:r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"second-tier" defence industrial power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(Fergusson). Successful Canadian firms depend on access to the global marketplace.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5760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U.S. anchor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the Defence Production Sharing Agreement and NORAD interoperability — reorienting away from U.S.-aligned systems carries strategic, operational, and economic risk (Lagassé).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F-35 as a touchstone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fleet of 88 could support ~5,000 direct and indirect jobs over the program's life (L3Harris); a mixed fleet would reduce that.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critical-minerals opportunity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Gallium, germanium, tungsten, titanium, bismuth, graphite, some rare earths (Exner-Pirot, Macdonald-Laurier Institute).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0" y="2514600"/>
            <a:ext cx="5166360" cy="388620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514600"/>
            <a:ext cx="73152" cy="3886200"/>
          </a:xfrm>
          <a:prstGeom prst="rect">
            <a:avLst/>
          </a:prstGeom>
          <a:solidFill>
            <a:srgbClr val="9B3B3B"/>
          </a:solidFill>
          <a:ln w="12700">
            <a:solidFill>
              <a:srgbClr val="9B3B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03720" y="26974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IP-LEAKAGE CONCERN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03720" y="3063240"/>
            <a:ext cx="4709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Canadian firms and IP developed with public support are often acquired or absorbed by foreign interests once technologies mature — driven by structural features of foreign markets such as unequal access to capital and procurement scale.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03720" y="493776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D8D2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"IP and data lost to allied nations are no less lost as drivers of domestic value creation."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03720" y="59436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brief — Durand, Misra, Briggs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7200" y="6510528"/>
            <a:ext cx="11274552" cy="137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65653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 Standing Committee, Second Report · March 2026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515600" y="6565392"/>
            <a:ext cx="1216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92608" cy="292608"/>
          </a:xfrm>
          <a:prstGeom prst="rect">
            <a:avLst/>
          </a:prstGeom>
          <a:solidFill>
            <a:srgbClr val="9B3B3B"/>
          </a:solidFill>
          <a:ln w="12700">
            <a:solidFill>
              <a:srgbClr val="9B3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38404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 OF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Procurement: The Central Diagnosed Problem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640080" cy="45720"/>
          </a:xfrm>
          <a:prstGeom prst="rect">
            <a:avLst/>
          </a:prstGeom>
          <a:solidFill>
            <a:srgbClr val="9B3B3B"/>
          </a:solidFill>
          <a:ln w="12700">
            <a:solidFill>
              <a:srgbClr val="9B3B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74520"/>
            <a:ext cx="11274552" cy="1005840"/>
          </a:xfrm>
          <a:prstGeom prst="rect">
            <a:avLst/>
          </a:prstGeom>
          <a:solidFill>
            <a:srgbClr val="F9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74520"/>
            <a:ext cx="73152" cy="1005840"/>
          </a:xfrm>
          <a:prstGeom prst="rect">
            <a:avLst/>
          </a:prstGeom>
          <a:solidFill>
            <a:srgbClr val="9B3B3B"/>
          </a:solidFill>
          <a:ln w="12700">
            <a:solidFill>
              <a:srgbClr val="9B3B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116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old approach to procurement does not work at the speed of modern threats."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54203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Matthew Lombardi, Co-Founder, The Icebreaker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3611880" cy="1234440"/>
          </a:xfrm>
          <a:prstGeom prst="rect">
            <a:avLst/>
          </a:prstGeom>
          <a:solidFill>
            <a:srgbClr val="F5F2EC"/>
          </a:solidFill>
          <a:ln w="12700">
            <a:solidFill>
              <a:srgbClr val="F5F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2918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B3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5–15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years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85800" y="386791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defence procurement cycle (CADSI)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3154680"/>
            <a:ext cx="3611880" cy="1234440"/>
          </a:xfrm>
          <a:prstGeom prst="rect">
            <a:avLst/>
          </a:prstGeom>
          <a:solidFill>
            <a:srgbClr val="F5F2EC"/>
          </a:solidFill>
          <a:ln w="12700">
            <a:solidFill>
              <a:srgbClr val="F5F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32918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B3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14–15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months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526280" y="386791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award and contract signature (GALAXIA, satellite mission)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38160" y="3154680"/>
            <a:ext cx="3611880" cy="1234440"/>
          </a:xfrm>
          <a:prstGeom prst="rect">
            <a:avLst/>
          </a:prstGeom>
          <a:solidFill>
            <a:srgbClr val="F5F2EC"/>
          </a:solidFill>
          <a:ln w="12700">
            <a:solidFill>
              <a:srgbClr val="F5F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32918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B3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~18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months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366760" y="386791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wait for an SME to clear security to bid (Lombardi)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617720"/>
            <a:ext cx="552297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727448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CAUSES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5074920"/>
            <a:ext cx="52486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elimination prioritized over risk mitigation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governance across departments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industry visibility into CAF capability gaps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pathways from R&amp;D to acquisition — IDEaS has no contracting mechanism (Lagassé)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45352" y="4617720"/>
            <a:ext cx="5522976" cy="178308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28232" y="4727448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FIXES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28232" y="5074920"/>
            <a:ext cx="52486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 authority for small, iterative purchases to lower operational levels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IDEaS into a formal defence accelerator (U.K. / Australian models)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 or replace the ITB policy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"Attritable mass" procurement models for low-cost, replaceable systems like drone swarms (Lombardi, Intson)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57200" y="6510528"/>
            <a:ext cx="11274552" cy="137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65653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 Standing Committee, Second Report · March 2026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515600" y="6565392"/>
            <a:ext cx="1216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92608" cy="292608"/>
          </a:xfrm>
          <a:prstGeom prst="rect">
            <a:avLst/>
          </a:prstGeom>
          <a:solidFill>
            <a:srgbClr val="9B3B3B"/>
          </a:solidFill>
          <a:ln w="12700">
            <a:solidFill>
              <a:srgbClr val="9B3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38404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 OF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Capital: The Financing Constraint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640080" cy="45720"/>
          </a:xfrm>
          <a:prstGeom prst="rect">
            <a:avLst/>
          </a:prstGeom>
          <a:solidFill>
            <a:srgbClr val="9B3B3B"/>
          </a:solidFill>
          <a:ln w="12700">
            <a:solidFill>
              <a:srgbClr val="9B3B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5564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2C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financing dimension — and a connection to Canada's broader scale-up debate.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BROKEN LINK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6858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contracts, no revenue certainty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One-year contracts plus extensions don't give banks or investors enough confidence to lend or invest.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Sectoral stigma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reportedly refuse services to defence-sector entrepreneurs; Canadian VCs reluctant on hardware-intensive defence tech.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headwinds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 III/IV constrain bank balance sheets in ways that limit defence lending (DSRB).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levers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 contracts upfront; BDC/EDC financing backed by procurement contracts; potential Canadian participation in the Defence, Security &amp; Resilience Bank.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543800" y="2514600"/>
            <a:ext cx="4206240" cy="1691640"/>
          </a:xfrm>
          <a:prstGeom prst="rect">
            <a:avLst/>
          </a:prstGeom>
          <a:solidFill>
            <a:srgbClr val="F5F2EC"/>
          </a:solidFill>
          <a:ln w="12700">
            <a:solidFill>
              <a:srgbClr val="F5F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26334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DSRB PROPOSAL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2926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B3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$10B  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Canadian subscription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772400" y="345643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leverage  </a:t>
            </a:r>
            <a:pPr indent="0" marL="0">
              <a:buNone/>
            </a:pPr>
            <a:r>
              <a:rPr lang="en-US" sz="2200" b="1" dirty="0">
                <a:solidFill>
                  <a:srgbClr val="9B3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~$50B  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financing power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0" y="3886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without increasing sovereign debt (Kevin Reed, DSRB)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543800" y="4434840"/>
            <a:ext cx="4206240" cy="196596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43800" y="4434840"/>
            <a:ext cx="73152" cy="1965960"/>
          </a:xfrm>
          <a:prstGeom prst="rect">
            <a:avLst/>
          </a:prstGeom>
          <a:solidFill>
            <a:srgbClr val="B8862C"/>
          </a:solidFill>
          <a:ln w="12700">
            <a:solidFill>
              <a:srgbClr val="B886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18120" y="46177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single most impactful thing the Crown can do is seed the venture capital ecosystem to ensure that critical early-stage technologies make the leap from concept to commercialization."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818120" y="6080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Michael Smith, COO, ONE9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6510528"/>
            <a:ext cx="11274552" cy="137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65653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 Standing Committee, Second Report · March 2026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515600" y="6565392"/>
            <a:ext cx="1216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92608" cy="292608"/>
          </a:xfrm>
          <a:prstGeom prst="rect">
            <a:avLst/>
          </a:prstGeom>
          <a:solidFill>
            <a:srgbClr val="9B3B3B"/>
          </a:solidFill>
          <a:ln w="12700">
            <a:solidFill>
              <a:srgbClr val="9B3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38404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3 OF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Talent: Skilled People as the Binding Constraint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640080" cy="45720"/>
          </a:xfrm>
          <a:prstGeom prst="rect">
            <a:avLst/>
          </a:prstGeom>
          <a:solidFill>
            <a:srgbClr val="9B3B3B"/>
          </a:solidFill>
          <a:ln w="12700">
            <a:solidFill>
              <a:srgbClr val="9B3B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5564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2C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STEM pipelines, workforce diversity, and the university-industry-CAF triangle.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3611880" cy="3200400"/>
          </a:xfrm>
          <a:prstGeom prst="rect">
            <a:avLst/>
          </a:prstGeom>
          <a:solidFill>
            <a:srgbClr val="F9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514600"/>
            <a:ext cx="3611880" cy="73152"/>
          </a:xfrm>
          <a:prstGeom prst="rect">
            <a:avLst/>
          </a:prstGeom>
          <a:solidFill>
            <a:srgbClr val="9B3B3B"/>
          </a:solidFill>
          <a:ln w="12700">
            <a:solidFill>
              <a:srgbClr val="9B3B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7889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1089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STEM and trades shortages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84048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shortages across the defence value chain; weak domestic pathways into engineering and the trades (Foster, Mueller). Universities Canada, U15, and ÉTS press for integrated co-ops, micro-credentials, and defence-focused experiential learning.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2514600"/>
            <a:ext cx="3611880" cy="3200400"/>
          </a:xfrm>
          <a:prstGeom prst="rect">
            <a:avLst/>
          </a:prstGeom>
          <a:solidFill>
            <a:srgbClr val="F9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2514600"/>
            <a:ext cx="3611880" cy="73152"/>
          </a:xfrm>
          <a:prstGeom prst="rect">
            <a:avLst/>
          </a:prstGeom>
          <a:solidFill>
            <a:srgbClr val="9B3B3B"/>
          </a:solidFill>
          <a:ln w="12700">
            <a:solidFill>
              <a:srgbClr val="9B3B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7889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31089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inclusive-economy frame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0" y="384048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diversity is uneven. Women-led SMEs are disproportionately affected by procurement and ITB complexity. MDA Space (Greenley) argues diversity and inclusion can be embedded as standard business practice — tracked and measurably improved.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38160" y="2514600"/>
            <a:ext cx="3611880" cy="3200400"/>
          </a:xfrm>
          <a:prstGeom prst="rect">
            <a:avLst/>
          </a:prstGeom>
          <a:solidFill>
            <a:srgbClr val="F9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2514600"/>
            <a:ext cx="3611880" cy="73152"/>
          </a:xfrm>
          <a:prstGeom prst="rect">
            <a:avLst/>
          </a:prstGeom>
          <a:solidFill>
            <a:srgbClr val="9B3B3B"/>
          </a:solidFill>
          <a:ln w="12700">
            <a:solidFill>
              <a:srgbClr val="9B3B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27889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412480" y="31089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distinct levers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12480" y="384048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18 — dedicated procurement streams for women-owned and Indigenous-owned SMEs (modelled on the U.S. Women-Owned Small Business program), with training and education supports.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14 — invest in training and multi-role skill development for CAF personnel as software and hardware systems evolve.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slide for a policy audience: defence procurement is a place where industrial policy, STEM-pipeline policy, and equity considerations meet. Treat them as complementary, not competing objectives.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6510528"/>
            <a:ext cx="11274552" cy="137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65653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 Standing Committee, Second Report · March 2026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515600" y="6565392"/>
            <a:ext cx="1216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92608" cy="292608"/>
          </a:xfrm>
          <a:prstGeom prst="rect">
            <a:avLst/>
          </a:prstGeom>
          <a:solidFill>
            <a:srgbClr val="9B3B3B"/>
          </a:solidFill>
          <a:ln w="12700">
            <a:solidFill>
              <a:srgbClr val="9B3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38404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4 OF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North and Indigenous Partnership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640080" cy="45720"/>
          </a:xfrm>
          <a:prstGeom prst="rect">
            <a:avLst/>
          </a:prstGeom>
          <a:solidFill>
            <a:srgbClr val="9B3B3B"/>
          </a:solidFill>
          <a:ln w="12700">
            <a:solidFill>
              <a:srgbClr val="9B3B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5564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2C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Sovereignty infrastructure that serves community resilience, regional development, and defence readiness simultaneously.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 AND MULTI-USE INFRASTRUCTURE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corridors, clean energy systems, telecommunications, housing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both community resilience and defence readiness (Redfern, Yellowknife)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Arctic as a centre of excellence for cold-weather testing of vehicles, sensors, communications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Redfern: a unified inventory of northern infrastructure and modelling of interdependencies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5257800"/>
            <a:ext cx="5760720" cy="1143000"/>
          </a:xfrm>
          <a:prstGeom prst="rect">
            <a:avLst/>
          </a:prstGeom>
          <a:solidFill>
            <a:srgbClr val="F5F2EC"/>
          </a:solidFill>
          <a:ln w="12700">
            <a:solidFill>
              <a:srgbClr val="F5F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5257800"/>
            <a:ext cx="73152" cy="1143000"/>
          </a:xfrm>
          <a:prstGeom prst="rect">
            <a:avLst/>
          </a:prstGeom>
          <a:solidFill>
            <a:srgbClr val="B8862C"/>
          </a:solidFill>
          <a:ln w="12700">
            <a:solidFill>
              <a:srgbClr val="B886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34924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13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5623560"/>
            <a:ext cx="5440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small modular and micro-modular nuclear reactors (SMRs/MMRs) as essential energy solutions for Arctic and remote operations.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26974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INDIGENOUS PARTICIPATION BEYOND OWNERSHIP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46520" y="301752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minimum 5% Indigenous procurement target has expanded participation — but weak verification has enabled fraudulent firms.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46520" y="3977640"/>
            <a:ext cx="5303520" cy="242316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3977640"/>
            <a:ext cx="73152" cy="2423160"/>
          </a:xfrm>
          <a:prstGeom prst="rect">
            <a:avLst/>
          </a:prstGeom>
          <a:solidFill>
            <a:srgbClr val="9B3B3B"/>
          </a:solidFill>
          <a:ln w="12700">
            <a:solidFill>
              <a:srgbClr val="9B3B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416052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Indigenous involvement requires transparent reporting and audits, combined with capacity-building, training, and genuine participation in projects and benefit-sharing — 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20840" y="55321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D8D2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"to prove that Inuit or Indigenous people are not just tokens or front-facing parts of the company."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20840" y="61264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Madeleine Redfern, CanArctic Inuit Networks Inc.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7200" y="6510528"/>
            <a:ext cx="11274552" cy="137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65653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 Standing Committee, Second Report · March 2026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515600" y="6565392"/>
            <a:ext cx="1216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92608" cy="292608"/>
          </a:xfrm>
          <a:prstGeom prst="rect">
            <a:avLst/>
          </a:prstGeom>
          <a:solidFill>
            <a:srgbClr val="9B3B3B"/>
          </a:solidFill>
          <a:ln w="12700">
            <a:solidFill>
              <a:srgbClr val="9B3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38404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WITNESSES CONVERGED 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Foundational Principles for a Modern DIS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640080" cy="45720"/>
          </a:xfrm>
          <a:prstGeom prst="rect">
            <a:avLst/>
          </a:prstGeom>
          <a:solidFill>
            <a:srgbClr val="9B3B3B"/>
          </a:solidFill>
          <a:ln w="12700">
            <a:solidFill>
              <a:srgbClr val="9B3B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5564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2C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evaluation framework — the standard against which to read the government's actual DIS.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3749040" cy="1691640"/>
          </a:xfrm>
          <a:prstGeom prst="rect">
            <a:avLst/>
          </a:prstGeom>
          <a:solidFill>
            <a:srgbClr val="F9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697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9B3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" y="3154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living strategy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593592"/>
            <a:ext cx="3291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over time with structured industry and stakeholder input (Rec 1).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2514600"/>
            <a:ext cx="3749040" cy="1691640"/>
          </a:xfrm>
          <a:prstGeom prst="rect">
            <a:avLst/>
          </a:prstGeom>
          <a:solidFill>
            <a:srgbClr val="F9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2697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9B3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17720" y="3154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Long-term demand visibility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3593592"/>
            <a:ext cx="3291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 contracts, 20-year technology roadmaps (Greenley), 20–30-year allied partnerships.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321040" y="2514600"/>
            <a:ext cx="3749040" cy="1691640"/>
          </a:xfrm>
          <a:prstGeom prst="rect">
            <a:avLst/>
          </a:prstGeom>
          <a:solidFill>
            <a:srgbClr val="F9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9640" y="2697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9B3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549640" y="3154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"Buy Canadian" as industrial policy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49640" y="3593592"/>
            <a:ext cx="3291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intentionally — with SME support for certification, ITAR compliance, commercialization.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389120"/>
            <a:ext cx="3749040" cy="1691640"/>
          </a:xfrm>
          <a:prstGeom prst="rect">
            <a:avLst/>
          </a:prstGeom>
          <a:solidFill>
            <a:srgbClr val="F9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572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9B3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5800" y="5029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University–industry–CAF integration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" y="5468112"/>
            <a:ext cx="3291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research environments, shared testbeds, applied prototyping at TRL 3–7 (ÉTS).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9120" y="4389120"/>
            <a:ext cx="3749040" cy="1691640"/>
          </a:xfrm>
          <a:prstGeom prst="rect">
            <a:avLst/>
          </a:prstGeom>
          <a:solidFill>
            <a:srgbClr val="F9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4572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9B3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617720" y="5029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ethical framework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17720" y="5468112"/>
            <a:ext cx="3291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arms exports, autonomous weapons, and AI in defence (Recs 19, 20).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321040" y="4389120"/>
            <a:ext cx="3749040" cy="1691640"/>
          </a:xfrm>
          <a:prstGeom prst="rect">
            <a:avLst/>
          </a:prstGeom>
          <a:solidFill>
            <a:srgbClr val="F9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49640" y="4572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9B3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549640" y="5029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clear-eyed caveat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549640" y="5468112"/>
            <a:ext cx="3291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"There is no viable path to become a defence industrial autarky." DIS must be subservient to defence policy (Shimooka).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57200" y="6510528"/>
            <a:ext cx="11274552" cy="137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57200" y="65653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 Standing Committee, Second Report · March 2026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0515600" y="6565392"/>
            <a:ext cx="1216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92608" cy="292608"/>
          </a:xfrm>
          <a:prstGeom prst="rect">
            <a:avLst/>
          </a:prstGeom>
          <a:solidFill>
            <a:srgbClr val="9B3B3B"/>
          </a:solidFill>
          <a:ln w="12700">
            <a:solidFill>
              <a:srgbClr val="9B3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38404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COMMITTEE'S PACKAGE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20 Recommendations — Grouped Thematically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640080" cy="45720"/>
          </a:xfrm>
          <a:prstGeom prst="rect">
            <a:avLst/>
          </a:prstGeom>
          <a:solidFill>
            <a:srgbClr val="9B3B3B"/>
          </a:solidFill>
          <a:ln w="12700">
            <a:solidFill>
              <a:srgbClr val="9B3B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5564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2C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shape of the policy package, not the enumerated list.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11274552" cy="713232"/>
          </a:xfrm>
          <a:prstGeom prst="rect">
            <a:avLst/>
          </a:prstGeom>
          <a:solidFill>
            <a:srgbClr val="F9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377440"/>
            <a:ext cx="91440" cy="713232"/>
          </a:xfrm>
          <a:prstGeom prst="rect">
            <a:avLst/>
          </a:prstGeom>
          <a:solidFill>
            <a:srgbClr val="9B3B3B"/>
          </a:solidFill>
          <a:ln w="12700">
            <a:solidFill>
              <a:srgbClr val="9B3B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468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&amp; ITB REFORM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7614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Recs 2, 3, 8, 9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2468880"/>
            <a:ext cx="6995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 small purchases · Review ITB · Modernize processes · Dedicated SME streams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82112"/>
            <a:ext cx="11274552" cy="713232"/>
          </a:xfrm>
          <a:prstGeom prst="rect">
            <a:avLst/>
          </a:prstGeom>
          <a:solidFill>
            <a:srgbClr val="F9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182112"/>
            <a:ext cx="91440" cy="713232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2735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CAPABILITIES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3566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Recs 5, 6, 12, 13, 15, 16, 17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3273552"/>
            <a:ext cx="6995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clusters · Dual-use supply chain · Core enabling tech (AI / cyber / autonomy) · SMRs in the Arctic · Fighter fleet options · Aerospace strategy · Sovereign data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986784"/>
            <a:ext cx="11274552" cy="713232"/>
          </a:xfrm>
          <a:prstGeom prst="rect">
            <a:avLst/>
          </a:prstGeom>
          <a:solidFill>
            <a:srgbClr val="F9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986784"/>
            <a:ext cx="91440" cy="713232"/>
          </a:xfrm>
          <a:prstGeom prst="rect">
            <a:avLst/>
          </a:prstGeom>
          <a:solidFill>
            <a:srgbClr val="B8862C"/>
          </a:solidFill>
          <a:ln w="12700">
            <a:solidFill>
              <a:srgbClr val="B886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0782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CAPITAL, TALENT, EQUITY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4370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Recs 10, 11, 14, 18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4078224"/>
            <a:ext cx="6995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Financial-system access · Defence-firm capital · Training for CAF personnel · Dedicated streams for women- and Indigenous-owned SMEs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791456"/>
            <a:ext cx="11274552" cy="713232"/>
          </a:xfrm>
          <a:prstGeom prst="rect">
            <a:avLst/>
          </a:prstGeom>
          <a:solidFill>
            <a:srgbClr val="F9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791456"/>
            <a:ext cx="91440" cy="713232"/>
          </a:xfrm>
          <a:prstGeom prst="rect">
            <a:avLst/>
          </a:prstGeom>
          <a:solidFill>
            <a:srgbClr val="2C3A4F"/>
          </a:solidFill>
          <a:ln w="12700">
            <a:solidFill>
              <a:srgbClr val="2C3A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8828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NORTH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" y="51755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63440" y="4882896"/>
            <a:ext cx="6995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investment in northern and Arctic infrastructure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5596128"/>
            <a:ext cx="11274552" cy="713232"/>
          </a:xfrm>
          <a:prstGeom prst="rect">
            <a:avLst/>
          </a:prstGeom>
          <a:solidFill>
            <a:srgbClr val="F9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5596128"/>
            <a:ext cx="91440" cy="713232"/>
          </a:xfrm>
          <a:prstGeom prst="rect">
            <a:avLst/>
          </a:prstGeom>
          <a:solidFill>
            <a:srgbClr val="9B3B3B"/>
          </a:solidFill>
          <a:ln w="12700">
            <a:solidFill>
              <a:srgbClr val="9B3B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6875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PARTNERSHIPS, ETHICS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5800" y="59801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Recs 1, 7, 19, 20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63440" y="5687568"/>
            <a:ext cx="6995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living DIS with stakeholder input · University partnership clusters · An ethical framework · Multilateral discussions on autonomous weapons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457200" y="6510528"/>
            <a:ext cx="11274552" cy="137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7200" y="65653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 Standing Committee, Second Report · March 2026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515600" y="6565392"/>
            <a:ext cx="1216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92608" cy="292608"/>
          </a:xfrm>
          <a:prstGeom prst="rect">
            <a:avLst/>
          </a:prstGeom>
          <a:solidFill>
            <a:srgbClr val="9B3B3B"/>
          </a:solidFill>
          <a:ln w="12700">
            <a:solidFill>
              <a:srgbClr val="9B3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38404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INSTITUTION TO WATCH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Defence Investment Agency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640080" cy="45720"/>
          </a:xfrm>
          <a:prstGeom prst="rect">
            <a:avLst/>
          </a:prstGeom>
          <a:solidFill>
            <a:srgbClr val="9B3B3B"/>
          </a:solidFill>
          <a:ln w="12700">
            <a:solidFill>
              <a:srgbClr val="9B3B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5564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2C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Execution lives here — if it works.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Recently established to consolidate and accelerate defence procurement; CEO Doug Guzman. </a:t>
            </a:r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DND framing (Wendy Hadwen): </a:t>
            </a:r>
            <a:pPr indent="0" marL="0">
              <a:buNone/>
            </a:pPr>
            <a:r>
              <a:rPr lang="en-US" sz="1300" b="1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commitment to solving the procurement challenge."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11274552" cy="77724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246120"/>
            <a:ext cx="73152" cy="777240"/>
          </a:xfrm>
          <a:prstGeom prst="rect">
            <a:avLst/>
          </a:prstGeom>
          <a:solidFill>
            <a:srgbClr val="B8862C"/>
          </a:solidFill>
          <a:ln w="12700">
            <a:solidFill>
              <a:srgbClr val="B886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3101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"There is no room for silos at this time; it's not peace time."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374904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Wendy Hadwen, Assistant Deputy Minister, Policy-Industry, Department of National Defence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297680"/>
            <a:ext cx="3611880" cy="1463040"/>
          </a:xfrm>
          <a:prstGeom prst="rect">
            <a:avLst/>
          </a:prstGeom>
          <a:solidFill>
            <a:srgbClr val="F5F2EC"/>
          </a:solidFill>
          <a:ln w="12700">
            <a:solidFill>
              <a:srgbClr val="F5F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4622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47365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Leuprecht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510235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to underwrite high-risk, high-reward defence innovation — especially for SMEs currently vulnerable to foreign acquisition.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97680" y="4297680"/>
            <a:ext cx="3611880" cy="1463040"/>
          </a:xfrm>
          <a:prstGeom prst="rect">
            <a:avLst/>
          </a:prstGeom>
          <a:solidFill>
            <a:srgbClr val="F5F2EC"/>
          </a:solidFill>
          <a:ln w="12700">
            <a:solidFill>
              <a:srgbClr val="F5F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44622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CAUTIOUS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26280" y="47365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Shimooka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26280" y="510235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the intent but warns the current structure risks becoming another bottleneck. Calls for fundamental reform with single-point accountability.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38160" y="4297680"/>
            <a:ext cx="3611880" cy="1463040"/>
          </a:xfrm>
          <a:prstGeom prst="rect">
            <a:avLst/>
          </a:prstGeom>
          <a:solidFill>
            <a:srgbClr val="F5F2EC"/>
          </a:solidFill>
          <a:ln w="12700">
            <a:solidFill>
              <a:srgbClr val="F5F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66760" y="44622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SKEPTICAL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366760" y="47365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Fergusson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366760" y="510235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Skeptical that the agency will fundamentally reform defence procurement; expects improvements to be marginal at best.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5897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OPEN QUESTION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17220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the DIA consolidate procurement authority — or layer on top of existing fragmentation?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57200" y="6510528"/>
            <a:ext cx="11274552" cy="137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7200" y="65653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 Standing Committee, Second Report · March 2026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515600" y="6565392"/>
            <a:ext cx="1216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92608" cy="292608"/>
          </a:xfrm>
          <a:prstGeom prst="rect">
            <a:avLst/>
          </a:prstGeom>
          <a:solidFill>
            <a:srgbClr val="9B3B3B"/>
          </a:solidFill>
          <a:ln w="12700">
            <a:solidFill>
              <a:srgbClr val="9B3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38404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DISTINCT ORGANIZING PRINCIPLE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Conservative Supplementary Opinion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640080" cy="45720"/>
          </a:xfrm>
          <a:prstGeom prst="rect">
            <a:avLst/>
          </a:prstGeom>
          <a:solidFill>
            <a:srgbClr val="9B3B3B"/>
          </a:solidFill>
          <a:ln w="12700">
            <a:solidFill>
              <a:srgbClr val="9B3B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5564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2C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policy choices, with real trade-offs — treat them evenhandedly.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21284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LINKED NATIONAL OBJECTIVES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2743200" cy="169164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514600"/>
            <a:ext cx="2743200" cy="73152"/>
          </a:xfrm>
          <a:prstGeom prst="rect">
            <a:avLst/>
          </a:prstGeom>
          <a:solidFill>
            <a:srgbClr val="B8862C"/>
          </a:solidFill>
          <a:ln w="12700">
            <a:solidFill>
              <a:srgbClr val="B886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743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88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3200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self-reliance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36576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and critical resources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37560" y="2514600"/>
            <a:ext cx="2743200" cy="169164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7560" y="2514600"/>
            <a:ext cx="2743200" cy="73152"/>
          </a:xfrm>
          <a:prstGeom prst="rect">
            <a:avLst/>
          </a:prstGeom>
          <a:solidFill>
            <a:srgbClr val="B8862C"/>
          </a:solidFill>
          <a:ln w="12700">
            <a:solidFill>
              <a:srgbClr val="B886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11880" y="2743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88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11880" y="3200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Military capability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11880" y="36576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more agile procurement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343400"/>
            <a:ext cx="2743200" cy="169164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343400"/>
            <a:ext cx="2743200" cy="73152"/>
          </a:xfrm>
          <a:prstGeom prst="rect">
            <a:avLst/>
          </a:prstGeom>
          <a:solidFill>
            <a:srgbClr val="B8862C"/>
          </a:solidFill>
          <a:ln w="12700">
            <a:solidFill>
              <a:srgbClr val="B886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572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88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31520" y="5029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Arctic sovereignty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" y="5486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Dual-use northern infrastructure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37560" y="4343400"/>
            <a:ext cx="2743200" cy="169164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37560" y="4343400"/>
            <a:ext cx="2743200" cy="73152"/>
          </a:xfrm>
          <a:prstGeom prst="rect">
            <a:avLst/>
          </a:prstGeom>
          <a:solidFill>
            <a:srgbClr val="B8862C"/>
          </a:solidFill>
          <a:ln w="12700">
            <a:solidFill>
              <a:srgbClr val="B886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11880" y="4572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88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611880" y="5029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sovereignty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611880" y="5486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Defence-relevant data, systems, IP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63640" y="22128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DISTINCTIVE RECOMMENDATIONS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63640" y="2514600"/>
            <a:ext cx="54864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LNG export capacity and a strategic energy reserve as security tools — weaken adversaries, fund Canadian defence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 the original 88-aircraft F-35 commitment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Operationalize BOREALIS as a Canadian DARPA-style agency with procurement authority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Canadian-controlled defence cloud + data residency for defence-sensitive operations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Post-quantum security and quantum sensing as core defence capabilities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"Attritable air defence" — low-cost counter-drone capability for high-volume threats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ITB policy with an outcomes-based framework (verifiable IP, talent, throughput)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1264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of these themes — digital sovereignty, post-quantum security, BOREALIS-as-DARPA — align with broader currents in Canadian innovation and AI policy.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57200" y="6510528"/>
            <a:ext cx="11274552" cy="137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57200" y="65653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 Standing Committee, Second Report · March 2026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0515600" y="6565392"/>
            <a:ext cx="1216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B3B3B"/>
          </a:solidFill>
          <a:ln w="12700">
            <a:solidFill>
              <a:srgbClr val="9B3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486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CLOSING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Implications and Open Questions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640080" cy="36576"/>
          </a:xfrm>
          <a:prstGeom prst="rect">
            <a:avLst/>
          </a:prstGeom>
          <a:solidFill>
            <a:srgbClr val="B8862C"/>
          </a:solidFill>
          <a:ln w="12700">
            <a:solidFill>
              <a:srgbClr val="B886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65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D8D2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watch from here.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834640"/>
            <a:ext cx="457200" cy="457200"/>
          </a:xfrm>
          <a:prstGeom prst="ellipse">
            <a:avLst/>
          </a:prstGeom>
          <a:solidFill>
            <a:srgbClr val="B8862C"/>
          </a:solidFill>
          <a:ln w="12700">
            <a:solidFill>
              <a:srgbClr val="B886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08760" y="274320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the government's DIS match the principles witnesses identified — long-term predictability, modernized procurement, intentional Buy Canadian, and ethical guardrails?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794760"/>
            <a:ext cx="457200" cy="457200"/>
          </a:xfrm>
          <a:prstGeom prst="ellipse">
            <a:avLst/>
          </a:prstGeom>
          <a:solidFill>
            <a:srgbClr val="B8862C"/>
          </a:solidFill>
          <a:ln w="12700">
            <a:solidFill>
              <a:srgbClr val="B886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8760" y="370332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Defence Investment Agency actually compress procurement timelines, or will it add a layer to existing fragmentation?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4754880"/>
            <a:ext cx="457200" cy="457200"/>
          </a:xfrm>
          <a:prstGeom prst="ellipse">
            <a:avLst/>
          </a:prstGeom>
          <a:solidFill>
            <a:srgbClr val="B8862C"/>
          </a:solidFill>
          <a:ln w="12700">
            <a:solidFill>
              <a:srgbClr val="B886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466344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Canada balance interoperability with allies, sovereign industrial capacity, and fiscal constraints as the 5% NATO target approaches?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5715000"/>
            <a:ext cx="457200" cy="457200"/>
          </a:xfrm>
          <a:prstGeom prst="ellipse">
            <a:avLst/>
          </a:prstGeom>
          <a:solidFill>
            <a:srgbClr val="B8862C"/>
          </a:solidFill>
          <a:ln w="12700">
            <a:solidFill>
              <a:srgbClr val="B886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715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08760" y="562356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DIS a test case? If Canada can do industrial policy here — with the urgency, capital, and political alignment defence brings — what does that mean for industrial policy in AI, critical minerals, and clean energy?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64465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Canada's Defence Industrial Strategy: From Innovation to Readiness — Second Report of the House of Commons Standing Committee on Industry and Technology, 45th Parliament, 1st Session, March 2026.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Canada's Defence Industrial Strategy — From Innovation to Readiness</dc:title>
  <dc:subject>PptxGenJS Presentation</dc:subject>
  <dc:creator>Munk School of Global Affairs and Public Policy</dc:creator>
  <cp:lastModifiedBy>Munk School of Global Affairs and Public Policy</cp:lastModifiedBy>
  <cp:revision>1</cp:revision>
  <dcterms:created xsi:type="dcterms:W3CDTF">2026-05-19T12:04:04Z</dcterms:created>
  <dcterms:modified xsi:type="dcterms:W3CDTF">2026-05-19T12:04:04Z</dcterms:modified>
</cp:coreProperties>
</file>
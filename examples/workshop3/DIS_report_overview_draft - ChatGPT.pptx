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96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cover clean and explicitly attribute the source to the committee, not to the chair alone. Frame the presentation as a public-policy and economic-policy reading of the report. The committee was chaired by Ben Carr, with Raquel Dancho and Gabriel Ste-Marie as vice-chairs.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stakes. Emphasize that this is not simply a defence file: the fiscal question, the NATO target, and the dual-use spending category all make this an economic-policy story. The PBO is preparing a separate report on the impact of reaching 3.5% core and 1.5% ancillary spending by 2035.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the audience quickly. The process details are included to establish credibility, but the presentation should move quickly to findings. Mention the committee’s dual mandate: self-reliance and business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establish that the sector is economically significant and regionally distributed. The regional distribution matters politically: this is not a single regional interest. If challenged on ITB, note the PBO nuance that contracts subject to ITB obligations do not necessarily flow to Canadian-owned firms or direct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integration/sovereignty tension clearly. Lagassé’s caution is useful here: reorienting defence-industrial policy away from U.S.-aligned systems carries risks for interoperability with allies, including the U.K. and Australia. The IP-leakage concern connects to broader Canadian innovation-policy debates.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challenge. Many other problems eventually route back to procurement. Flag Lagassé’s point that IDEaS may develop capability without a contracting mechanism that lets government acquire it. Lombardi and Intson’s “attritable mass” framing illustrates why drones and software require a different model than ships or fighters.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defence financing to familiar Canadian scale-up and capital-formation debates. Be even-handed: the PBO emphasized fiscal constraints, so financing levers should be understood alongside the fiscal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 into the inclusive-economy dimension. Greenley of MDA Space argued that diversity and inclusion can be embedded as measurable business practices, which is a useful response to the view that equity is extraneous to defence procurement.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some of the report’s freshest material for a general public-policy audience. Emphasize that northern infrastructure is not only defence infrastructure. It supports community resilience, economic development, reconciliation and sovereignty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evaluation criteria for the government’s actual Defence Industrial Strategy over time. Lagassé’s trade-off framing can be noted: sustaining domestic industry may require increased exports to markets where values trade-offs are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densest slide. Do not enumerate all 20 recommendations; the point is to show the shape of the policy package. Tell the audience that the committee’s package and the government’s DIS should be compared, not conflated.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committee wanted to hear from Doug Guzman but did not before finalizing the report. Treat the DIA as a live, unresolved institutional question. The key issue is whether it consolidates procurement authority or simply layers over fragmentation.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this evenhandedly. The supplementary opinion is substantive and frames the policy debate in a different way. Several recommendations, including digital sovereignty, post-quantum security and BOREALIS-as-DARPA, connect to themes already developing in Canadian innovation and AI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from what the report says to what it means. Land the broader argument: defence industrial strategy is a test case for whether Canada can do industrial policy at all. Then open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/mnt/data/report_cover.png"/>
          <p:cNvPicPr>
            <a:picLocks noChangeAspect="1"/>
          </p:cNvPicPr>
          <p:nvPr/>
        </p:nvPicPr>
        <p:blipFill>
          <a:blip r:embed="rId3"/>
          <a:srcRect l="145" r="145"/>
          <a:stretch/>
        </p:blipFill>
        <p:spPr>
          <a:xfrm>
            <a:off x="7768440" y="685800"/>
            <a:ext cx="3432960" cy="44555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65836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reading of a parliamentary report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133856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From Innovation to Readiness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58368" y="201168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D5E5F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Canada's Defence Industrial Strategy and what it means for public policy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3090672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B8C7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Report of the House of Commons Standing Committee on Industry and Technology • March 2026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" y="530352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9E4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[Presenter name and affiliation]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9E4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[Date / venue]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B8C7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8C7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Why now — a strategic and fiscal turning point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forces are converging on Canada at once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2971800" cy="292608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Geopolitics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297180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instability, supply-chain threats and fast military-technological change are creating pressure to act faster.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1389888"/>
            <a:ext cx="2971800" cy="292608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NATO commitments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1737360"/>
            <a:ext cx="297180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Canada plans to reach 5% of GDP on defence by 2035: 3.5% core defence + 1.5% ancillary / dual-use investments.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18120" y="1389888"/>
            <a:ext cx="2971800" cy="292608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Domestic fiscal moment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1737360"/>
            <a:ext cx="297180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D9E1E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2025 announced major defence investments; the government released its DIS just as the committee finalized the report.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10332720" cy="749808"/>
          </a:xfrm>
          <a:prstGeom prst="rect">
            <a:avLst/>
          </a:prstGeom>
          <a:solidFill>
            <a:srgbClr val="F4EEE5"/>
          </a:solidFill>
          <a:ln w="8890">
            <a:solidFill>
              <a:srgbClr val="E3D2B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“Sustained increases in defence expenditures will require explicit fiscal trade-offs.”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42416" y="4928616"/>
            <a:ext cx="10076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PBO testimony summarized in the committee report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32688" y="54406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an economic-policy audience, the “ancillary” 1.5% is where defence overlaps with infrastructure, critical minerals, and industrial policy.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report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committee did, and what it produced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2011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A2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1837944"/>
            <a:ext cx="201168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committee meetings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52928" y="1417320"/>
            <a:ext cx="2011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A2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52928" y="1837944"/>
            <a:ext cx="201168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47488" y="1417320"/>
            <a:ext cx="2011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A2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47488" y="1837944"/>
            <a:ext cx="201168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written briefs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242048" y="1417320"/>
            <a:ext cx="2011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A2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42048" y="1837944"/>
            <a:ext cx="201168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436608" y="1417320"/>
            <a:ext cx="201168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A2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+1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436608" y="1837944"/>
            <a:ext cx="201168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supplementary opinion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document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1546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Report of the House of Commons Standing Committee on Industry and Technology, 45th Parliament, 1st Session (March 2026).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 signal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31546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study framed defence industrial strategy as both “self-reliance in national defence and security” and “procurement opportunities for Canadian businesses.”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983480"/>
            <a:ext cx="10287000" cy="438912"/>
          </a:xfrm>
          <a:prstGeom prst="rect">
            <a:avLst/>
          </a:prstGeom>
          <a:solidFill>
            <a:srgbClr val="F2F6F8"/>
          </a:solidFill>
          <a:ln w="8890">
            <a:solidFill>
              <a:srgbClr val="DCE5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deck follows the supplied outline: source orientation → economic footprint → main challenges → principles → recommendations → open questions.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Canada's defence industry today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significant, export-oriented, regionally distributed sector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965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6F8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620+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196596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88920" y="1298448"/>
            <a:ext cx="1965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6F8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$9.6B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88920" y="1719072"/>
            <a:ext cx="196596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 contribution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19472" y="1298448"/>
            <a:ext cx="19659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6F8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81,200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19472" y="1719072"/>
            <a:ext cx="196596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06640" y="13075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orientation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1691640"/>
            <a:ext cx="3886200" cy="822960"/>
          </a:xfrm>
          <a:prstGeom prst="rect">
            <a:avLst/>
          </a:prstGeom>
          <a:solidFill>
            <a:srgbClr val="EEF4F6"/>
          </a:solidFill>
          <a:ln w="8890">
            <a:solidFill>
              <a:srgbClr val="D5E1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63% of defence exports to the U.S.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11% to Europe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 to the U.K.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971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systems, not one sector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383280"/>
            <a:ext cx="493776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Aerospace: QC, ON, MB, BC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Shipbuilding / marine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Quantum, AI, autonomous systems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Critical minerals and advanced manufacturing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4709160" cy="475488"/>
          </a:xfrm>
          <a:prstGeom prst="rect">
            <a:avLst/>
          </a:prstGeom>
          <a:solidFill>
            <a:srgbClr val="F3EFE6"/>
          </a:solidFill>
          <a:ln w="8890">
            <a:solidFill>
              <a:srgbClr val="E1D1B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Quebec aerospace alone: ~250 firms, 43,000 workers, $23B in annual sales.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971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and Technological Benefits (ITB) policy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493776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to contribute ~ $4.7B to Canada’s GDP.</a:t>
            </a:r>
            <a:endParaRPr lang="en-US" sz="1220" dirty="0"/>
          </a:p>
          <a:p>
            <a:pPr marL="0" indent="0" algn="l">
              <a:buNone/>
            </a:pP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Nuance: PBO noted ITB-eligible contracts do not always translate directly into production in Canada or Canadian-owned firms.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446520" y="5257800"/>
            <a:ext cx="4846320" cy="384048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CADSI view: a coherent DIS could plausibly double the industrial base over a decade.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Canada's place in allied supply chains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second-tier defence power, integrated rather than autonomous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2011680" cy="640080"/>
          </a:xfrm>
          <a:prstGeom prst="rect">
            <a:avLst/>
          </a:prstGeom>
          <a:solidFill>
            <a:srgbClr val="F0F6F8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Canadian firms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capabilities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2148840" cy="640080"/>
          </a:xfrm>
          <a:prstGeom prst="rect">
            <a:avLst/>
          </a:prstGeom>
          <a:solidFill>
            <a:srgbClr val="EEF1F6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U.S. / NORAD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interoperability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0" y="1600200"/>
            <a:ext cx="1920240" cy="640080"/>
          </a:xfrm>
          <a:prstGeom prst="rect">
            <a:avLst/>
          </a:prstGeom>
          <a:solidFill>
            <a:srgbClr val="F2F0E6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Allied supply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1920240"/>
            <a:ext cx="2194560" cy="0"/>
          </a:xfrm>
          <a:prstGeom prst="line">
            <a:avLst/>
          </a:prstGeom>
          <a:noFill/>
          <a:ln w="1778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78040" y="1920240"/>
            <a:ext cx="2148840" cy="0"/>
          </a:xfrm>
          <a:prstGeom prst="line">
            <a:avLst/>
          </a:prstGeom>
          <a:noFill/>
          <a:ln w="1778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2960" y="2788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reality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127248"/>
            <a:ext cx="49834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Canada’s strength lies in integration, not end-to-end domestic platform production.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Defence Production Sharing Agreement and NORAD tie Canada structurally to U.S. systems.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F-35: full fleet of 88 could support ~5,000 direct/indirect jobs over program life.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 opportunities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3127248"/>
            <a:ext cx="4754880" cy="685800"/>
          </a:xfrm>
          <a:prstGeom prst="rect">
            <a:avLst/>
          </a:prstGeom>
          <a:solidFill>
            <a:srgbClr val="F1F6F4"/>
          </a:solidFill>
          <a:ln w="8890">
            <a:solidFill>
              <a:srgbClr val="D8E7D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minerals such as gallium, germanium, tungsten, titanium, bismuth, graphite and some rare earths can support allied resilience.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4114800"/>
            <a:ext cx="4754880" cy="868680"/>
          </a:xfrm>
          <a:prstGeom prst="rect">
            <a:avLst/>
          </a:prstGeom>
          <a:solidFill>
            <a:srgbClr val="FAEFEF"/>
          </a:solidFill>
          <a:ln w="8890">
            <a:solidFill>
              <a:srgbClr val="E8C8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832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recurring concern: Canadian firms and IP developed with public support can be acquired or absorbed by foreign interests once technologies mature.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874520" y="5394960"/>
            <a:ext cx="8412480" cy="420624"/>
          </a:xfrm>
          <a:prstGeom prst="rect">
            <a:avLst/>
          </a:prstGeom>
          <a:solidFill>
            <a:srgbClr val="F3EFE6"/>
          </a:solidFill>
          <a:ln w="8890">
            <a:solidFill>
              <a:srgbClr val="E4D4B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“There is no viable path to become a defence industrial autarky.”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02536" y="5833872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Richard Shimooka, summarized in report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Challenge 1 — Procurement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old approach to procurement does not work at the speed of modern threats” — Matthew Lombardi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Procurement cycles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664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A8323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5–15 years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720840" y="13533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software cycles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20840" y="16642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F6F8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months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749040" y="1920240"/>
            <a:ext cx="2743200" cy="0"/>
          </a:xfrm>
          <a:prstGeom prst="line">
            <a:avLst/>
          </a:prstGeom>
          <a:noFill/>
          <a:ln w="17780">
            <a:solidFill>
              <a:srgbClr val="A83232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26060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Timelines incompatible with modern industry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45720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18 months to clear an SME for a defence contract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14–15 months between award and contract signature reported by GALAXIA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“Valley of death” between pilots and procurement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400800" y="26060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causes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457200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Risk elimination over risk mitigation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Fragmented governance across departments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Limited visibility into CAF needs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Weak R&amp;D-to-acquisition pathway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direction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Delegate small, iterative purchases; attach contracting mechanisms to innovation programs; reform or replace ITB.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Challenge 2 — Capital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Defence firms cannot grow without predictable revenue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2011680" cy="621792"/>
          </a:xfrm>
          <a:prstGeom prst="rect">
            <a:avLst/>
          </a:prstGeom>
          <a:solidFill>
            <a:srgbClr val="F1F6F8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Multi-year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1874520" cy="621792"/>
          </a:xfrm>
          <a:prstGeom prst="rect">
            <a:avLst/>
          </a:prstGeom>
          <a:solidFill>
            <a:srgbClr val="F1F6F8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certainty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77840" y="1554480"/>
            <a:ext cx="1874520" cy="621792"/>
          </a:xfrm>
          <a:prstGeom prst="rect">
            <a:avLst/>
          </a:prstGeom>
          <a:solidFill>
            <a:srgbClr val="F1F6F8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Debt + equity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554480"/>
            <a:ext cx="1828800" cy="621792"/>
          </a:xfrm>
          <a:prstGeom prst="rect">
            <a:avLst/>
          </a:prstGeom>
          <a:solidFill>
            <a:srgbClr val="F1F6F8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Scale-up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0" y="1554480"/>
            <a:ext cx="1600200" cy="621792"/>
          </a:xfrm>
          <a:prstGeom prst="rect">
            <a:avLst/>
          </a:prstGeom>
          <a:solidFill>
            <a:srgbClr val="F2F0E6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+ allied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access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88920" y="1865376"/>
            <a:ext cx="502920" cy="0"/>
          </a:xfrm>
          <a:prstGeom prst="line">
            <a:avLst/>
          </a:prstGeom>
          <a:noFill/>
          <a:ln w="1778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66360" y="1865376"/>
            <a:ext cx="411480" cy="0"/>
          </a:xfrm>
          <a:prstGeom prst="line">
            <a:avLst/>
          </a:prstGeom>
          <a:noFill/>
          <a:ln w="1778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1865376"/>
            <a:ext cx="411480" cy="0"/>
          </a:xfrm>
          <a:prstGeom prst="line">
            <a:avLst/>
          </a:prstGeom>
          <a:noFill/>
          <a:ln w="1778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92640" y="1865376"/>
            <a:ext cx="365760" cy="0"/>
          </a:xfrm>
          <a:prstGeom prst="line">
            <a:avLst/>
          </a:prstGeom>
          <a:noFill/>
          <a:ln w="1778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68680" y="27614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broken link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090672"/>
            <a:ext cx="516636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One-year contracts plus extensions do not provide enough bankable revenue certainty.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Some firms reported sectoral stigma: refused services or difficulty attracting Canadian VC.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Hardware-intensive defence tech faces particular financing barriers.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6446520" y="27614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levers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3090672"/>
            <a:ext cx="47548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Multi-year contracts upfront.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BDC / EDC financing backed by procurement contracts.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Participation in the Defence, Security and Resilience Bank: proposed $10B subscription → ~$50B financing power.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325880" y="5120640"/>
            <a:ext cx="9646920" cy="402336"/>
          </a:xfrm>
          <a:prstGeom prst="rect">
            <a:avLst/>
          </a:prstGeom>
          <a:solidFill>
            <a:srgbClr val="F3EFE6"/>
          </a:solidFill>
          <a:ln w="8890">
            <a:solidFill>
              <a:srgbClr val="E4D4B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550" i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“The single most impactful thing the Crown can do is seed the venture capital ecosystem.”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453896" y="5541264"/>
            <a:ext cx="9390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Michael Smith, ONE9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Challenge 3 — Talent and workforce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Skilled people are the binding constraint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2057400" cy="685800"/>
          </a:xfrm>
          <a:prstGeom prst="rect">
            <a:avLst/>
          </a:prstGeom>
          <a:solidFill>
            <a:srgbClr val="EEF4F6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Universities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polytechnics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20440" y="1481328"/>
            <a:ext cx="2331720" cy="841248"/>
          </a:xfrm>
          <a:prstGeom prst="rect">
            <a:avLst/>
          </a:prstGeom>
          <a:solidFill>
            <a:srgbClr val="EEF4F6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micro-credentials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experiential learning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554480"/>
            <a:ext cx="2057400" cy="685800"/>
          </a:xfrm>
          <a:prstGeom prst="rect">
            <a:avLst/>
          </a:prstGeom>
          <a:solidFill>
            <a:srgbClr val="EEF4F6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Defence firms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clusters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72600" y="1554480"/>
            <a:ext cx="1828800" cy="685800"/>
          </a:xfrm>
          <a:prstGeom prst="rect">
            <a:avLst/>
          </a:prstGeom>
          <a:solidFill>
            <a:srgbClr val="F2F0E6"/>
          </a:solidFill>
          <a:ln w="8890">
            <a:solidFill>
              <a:srgbClr val="CAD5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 users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operators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34640" y="1901952"/>
            <a:ext cx="685800" cy="0"/>
          </a:xfrm>
          <a:prstGeom prst="line">
            <a:avLst/>
          </a:prstGeom>
          <a:noFill/>
          <a:ln w="1778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0" y="1901952"/>
            <a:ext cx="731520" cy="0"/>
          </a:xfrm>
          <a:prstGeom prst="line">
            <a:avLst/>
          </a:prstGeom>
          <a:noFill/>
          <a:ln w="1778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41080" y="1901952"/>
            <a:ext cx="731520" cy="0"/>
          </a:xfrm>
          <a:prstGeom prst="line">
            <a:avLst/>
          </a:prstGeom>
          <a:noFill/>
          <a:ln w="1778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68680" y="28803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diagnosis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48006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Persistent STEM shortages across the defence value chain.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Weak domestic pathways into engineering and trades.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Military personnel need ongoing multi-role skills as software and hardware evolve.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6446520" y="28803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Inclusive-economy lens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3246120"/>
            <a:ext cx="475488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Women-led SMEs are disproportionately affected by procurement and ITB complexity. Recommendation 18 proposes dedicated procurement streams for women-owned and Indigenous-owned SMEs with training and supports.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5120640"/>
            <a:ext cx="10149840" cy="457200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implication: workforce strategy has to be treated as industrial infrastructure, not as an HR add-on.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Challenge 4 — The North and Indigenous partnership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Sovereignty infrastructure with multiple uses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1325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 / multi-use infrastructure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2788920" cy="329184"/>
          </a:xfrm>
          <a:prstGeom prst="rect">
            <a:avLst/>
          </a:prstGeom>
          <a:solidFill>
            <a:srgbClr val="2F6B5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resilience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2788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 • energy • telecommunications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2788920" cy="329184"/>
          </a:xfrm>
          <a:prstGeom prst="rect">
            <a:avLst/>
          </a:prstGeom>
          <a:solidFill>
            <a:srgbClr val="2F6F8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development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267712"/>
            <a:ext cx="2788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 corridors • local training • testing centres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38160" y="1828800"/>
            <a:ext cx="2788920" cy="329184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Defence readiness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2267712"/>
            <a:ext cx="27889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Arctic operations • sensors • sovereignty presence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4564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Distinctive report content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822192"/>
            <a:ext cx="489204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SMRs / micro-modular reactors for remote Arctic operations.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Arctic as a centre of excellence for cold-weather testing.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Unified inventory of northern infrastructure assets and modelling of interdependencies.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6446520" y="34564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Indigenous participation beyond ownership targets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3822192"/>
            <a:ext cx="4754880" cy="1143000"/>
          </a:xfrm>
          <a:prstGeom prst="rect">
            <a:avLst/>
          </a:prstGeom>
          <a:solidFill>
            <a:srgbClr val="F3F7F4"/>
          </a:solidFill>
          <a:ln w="8890">
            <a:solidFill>
              <a:srgbClr val="D5E6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5% Indigenous procurement target needs verification and reporting to prevent front-facing arrangements. Meaningful participation requires capacity-building, training, benefit-sharing, and project control.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North is where community policy, economic development, reconciliation and defence readiness overlap most visibly.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Foundational principles for a modern DIS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witnesses converged on — and the standard against which to read the government’s strategy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063240" cy="329184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Living strategy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3063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regularly with structured industry and stakeholder input.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480560" y="1417320"/>
            <a:ext cx="3063240" cy="329184"/>
          </a:xfrm>
          <a:prstGeom prst="rect">
            <a:avLst/>
          </a:prstGeom>
          <a:solidFill>
            <a:srgbClr val="2F6F8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visibility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0" y="1847088"/>
            <a:ext cx="3063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Multi-year contracts, 20-year technology road maps, and long-term allied partnerships.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229600" y="1417320"/>
            <a:ext cx="3063240" cy="329184"/>
          </a:xfrm>
          <a:prstGeom prst="rect">
            <a:avLst/>
          </a:prstGeom>
          <a:solidFill>
            <a:srgbClr val="2F6B5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Intentional Buy Canadian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0" y="1847088"/>
            <a:ext cx="3063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procurement as industrial policy, with support for SMEs on certification and compliance.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3063240" cy="329184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University–industry–CAF integration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813048"/>
            <a:ext cx="3063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research environments, shared testbeds, and prototyping at TRL 3–7.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4480560" y="3383280"/>
            <a:ext cx="3063240" cy="329184"/>
          </a:xfrm>
          <a:prstGeom prst="rect">
            <a:avLst/>
          </a:prstGeom>
          <a:solidFill>
            <a:srgbClr val="2F6F8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Ethical framework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80560" y="3813048"/>
            <a:ext cx="3063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for arms exports, autonomous weapons, and AI use in defence.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8229600" y="3383280"/>
            <a:ext cx="3063240" cy="329184"/>
          </a:xfrm>
          <a:prstGeom prst="rect">
            <a:avLst/>
          </a:prstGeom>
          <a:solidFill>
            <a:srgbClr val="2F6B5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caveat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3813048"/>
            <a:ext cx="3063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viable path to autarky: the DIS must follow defence policy, not replace it.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1188720" y="5532120"/>
            <a:ext cx="9784080" cy="274320"/>
          </a:xfrm>
          <a:prstGeom prst="rect">
            <a:avLst/>
          </a:prstGeom>
          <a:solidFill>
            <a:srgbClr val="F3EFE6"/>
          </a:solidFill>
          <a:ln w="8890">
            <a:solidFill>
              <a:srgbClr val="E4D4B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“You cannot just build things without a buyer, and you need policy to indicate that there is a buyer.”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16736" y="5824728"/>
            <a:ext cx="9528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Philippe Lagassé, quoted in the report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20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Grouped thematically so the shape of the policy package is clear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5349240" cy="310896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Procurement &amp; ITB reform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34924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Delegate small purchases • review ITB • modernize processes • dedicated SME streams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Recs 2, 3, 8, 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080" y="1417320"/>
            <a:ext cx="5074920" cy="310896"/>
          </a:xfrm>
          <a:prstGeom prst="rect">
            <a:avLst/>
          </a:prstGeom>
          <a:solidFill>
            <a:srgbClr val="2F6F8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capabilities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355080" y="1828800"/>
            <a:ext cx="507492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Clusters • dual-use supply chain • AI/cyber/autonomy • SMRs • fighter options • aerospace • sovereign data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Recs 5, 6, 12, 13, 15, 16, 17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349240" cy="310896"/>
          </a:xfrm>
          <a:prstGeom prst="rect">
            <a:avLst/>
          </a:prstGeom>
          <a:solidFill>
            <a:srgbClr val="2F6B5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Capital, talent, equity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534924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Financial-system access • defence-firm capital • CAF training • women- and Indigenous-owned SME streams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Recs 10, 11, 14, 18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2743200"/>
            <a:ext cx="5074920" cy="310896"/>
          </a:xfrm>
          <a:prstGeom prst="rect">
            <a:avLst/>
          </a:prstGeom>
          <a:solidFill>
            <a:srgbClr val="C99A2E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North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355080" y="3154680"/>
            <a:ext cx="507492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Sustained investment in northern and Arctic infrastructure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 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45920" y="4206240"/>
            <a:ext cx="8869680" cy="310896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Governance, partnerships, ethics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645920" y="4617720"/>
            <a:ext cx="886968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Living DIS • university clusters • ethical framework • autonomous-weapons multilateralism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Recs 1, 7, 19, 20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5806440"/>
            <a:ext cx="10058400" cy="365760"/>
          </a:xfrm>
          <a:prstGeom prst="rect">
            <a:avLst/>
          </a:prstGeom>
          <a:solidFill>
            <a:srgbClr val="F4EEE5"/>
          </a:solidFill>
          <a:ln w="8890">
            <a:solidFill>
              <a:srgbClr val="E4D4B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distinction: these are the committee’s recommendations, not the Government of Canada’s DIS. How closely the two align is an open empirical question.</a:t>
            </a:r>
            <a:endParaRPr lang="en-US" sz="11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Defence Investment Agency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institution to watch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6634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Recently established to consolidate and accelerate defence procurement. CEO: Doug Guzman.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426464"/>
            <a:ext cx="4572000" cy="566928"/>
          </a:xfrm>
          <a:prstGeom prst="rect">
            <a:avLst/>
          </a:prstGeom>
          <a:solidFill>
            <a:srgbClr val="F3EFE6"/>
          </a:solidFill>
          <a:ln w="8890">
            <a:solidFill>
              <a:srgbClr val="E4D4B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“There is no room for silos at this time; it’s not peace time.”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28816" y="201168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Wendy Hadwen, Department of National Defence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Witnesses were split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273552"/>
            <a:ext cx="3154680" cy="310896"/>
          </a:xfrm>
          <a:prstGeom prst="rect">
            <a:avLst/>
          </a:prstGeom>
          <a:solidFill>
            <a:srgbClr val="2F6B5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Optimistic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868680" y="3694176"/>
            <a:ext cx="31546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Could underwrite high-risk, high-reward defence innovation, especially for SMEs vulnerable to foreign acquisition.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4645152" y="3273552"/>
            <a:ext cx="3154680" cy="310896"/>
          </a:xfrm>
          <a:prstGeom prst="rect">
            <a:avLst/>
          </a:prstGeom>
          <a:solidFill>
            <a:srgbClr val="C99A2E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Cautious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645152" y="3694176"/>
            <a:ext cx="31546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Could become another bottleneck unless authority and accountability are consolidated.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8421624" y="3273552"/>
            <a:ext cx="3154680" cy="310896"/>
          </a:xfrm>
          <a:prstGeom prst="rect">
            <a:avLst/>
          </a:prstGeom>
          <a:solidFill>
            <a:srgbClr val="A83232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Skeptical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421624" y="3694176"/>
            <a:ext cx="31546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not fundamentally reform procurement; improvements could be marginal.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1005840" y="5413248"/>
            <a:ext cx="10104120" cy="438912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question: does the DIA compress procurement timelines, or add a layer to existing fragmentation?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Conservative supplementary opinion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distinct organizing principle, with further recommendations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298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linked national objectives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514600" cy="292608"/>
          </a:xfrm>
          <a:prstGeom prst="rect">
            <a:avLst/>
          </a:prstGeom>
          <a:solidFill>
            <a:srgbClr val="2F6B57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&amp; critical resources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25146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self-reliance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85032" y="1691640"/>
            <a:ext cx="2514600" cy="292608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Military capability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85032" y="2057400"/>
            <a:ext cx="25146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Faster, agile procurement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2514600" cy="292608"/>
          </a:xfrm>
          <a:prstGeom prst="rect">
            <a:avLst/>
          </a:prstGeom>
          <a:solidFill>
            <a:srgbClr val="2F6F8F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Arctic sovereignty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25146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Dual-use northern infrastructure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85032" y="2743200"/>
            <a:ext cx="2514600" cy="292608"/>
          </a:xfrm>
          <a:prstGeom prst="rect">
            <a:avLst/>
          </a:prstGeom>
          <a:solidFill>
            <a:srgbClr val="C99A2E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sovereignty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85032" y="3108960"/>
            <a:ext cx="25146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over data, systems and IP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37960" y="1298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Distinctive recommendations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691640"/>
            <a:ext cx="4754880" cy="29718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0E8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LNG export capacity and a strategic energy reserve as security tools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Fulfill the original 88-aircraft F-35 commitment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BOREALIS as a Canadian DARPA with procurement authority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Canadian-controlled defence cloud and data residency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Post-quantum security and quantum sensing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Low-cost counter-drone capability: “attritable air defence”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Replace ITB with outcomes-based framework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5010912"/>
            <a:ext cx="10424160" cy="493776"/>
          </a:xfrm>
          <a:prstGeom prst="rect">
            <a:avLst/>
          </a:prstGeom>
          <a:solidFill>
            <a:srgbClr val="F3EFE6"/>
          </a:solidFill>
          <a:ln w="8890">
            <a:solidFill>
              <a:srgbClr val="E4D4B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l">
              <a:buNone/>
            </a:pPr>
            <a:r>
              <a:rPr lang="en-US" sz="1320" i="1" dirty="0">
                <a:solidFill>
                  <a:srgbClr val="0B1F3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“Defence-industrial policy is not a narrow procurement exercise, but a practical means by which Canada converts its resources, talent, geography, and technology into sovereign capability.”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96696" y="5522976"/>
            <a:ext cx="10168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Conservative supplementary opinion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Implications and open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B8C7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watch from 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874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18562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the government’s DIS match the principles witnesses identified?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706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275234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Defence Investment Agency actually compress procurement timelines?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667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364845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Canada balance allied interoperability, sovereign capacity and fiscal constraints?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5628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45445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Canada can do industrial policy here, what does that imply for AI, critical minerals and clean energy?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806440"/>
            <a:ext cx="10149840" cy="438912"/>
          </a:xfrm>
          <a:prstGeom prst="rect">
            <a:avLst/>
          </a:prstGeom>
          <a:solidFill>
            <a:srgbClr val="17324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D9E4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Close: defence industrial strategy is a test case for whether Canada can do industrial policy with urgency, capital and political alignment.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5653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B8C7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House of Commons Standing Committee on Industry and Technology, Second Report, March 2026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137392" y="6501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8C7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2584</Words>
  <Application>Microsoft Office PowerPoint</Application>
  <PresentationFormat>Widescreen</PresentationFormat>
  <Paragraphs>283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Inter</vt:lpstr>
      <vt:lpstr>Inter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Innovation to Readiness: Canada's Defence Industrial Strategy and What It Means for Public Policy</dc:title>
  <dc:subject>Overview of Canada's Defence Industrial Strategy report</dc:subject>
  <dc:creator>OpenAI</dc:creator>
  <cp:lastModifiedBy>Sean Mullin</cp:lastModifiedBy>
  <cp:revision>2</cp:revision>
  <dcterms:created xsi:type="dcterms:W3CDTF">2026-05-19T11:58:43Z</dcterms:created>
  <dcterms:modified xsi:type="dcterms:W3CDTF">2026-05-19T12:13:36Z</dcterms:modified>
</cp:coreProperties>
</file>